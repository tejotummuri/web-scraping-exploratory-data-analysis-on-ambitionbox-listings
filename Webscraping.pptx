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1" r:id="rId3"/>
    <p:sldId id="262" r:id="rId4"/>
    <p:sldId id="260" r:id="rId5"/>
    <p:sldId id="275" r:id="rId6"/>
    <p:sldId id="276" r:id="rId7"/>
    <p:sldId id="277" r:id="rId8"/>
    <p:sldId id="263" r:id="rId9"/>
    <p:sldId id="278" r:id="rId10"/>
    <p:sldId id="264" r:id="rId11"/>
    <p:sldId id="279" r:id="rId12"/>
    <p:sldId id="271" r:id="rId13"/>
    <p:sldId id="267" r:id="rId14"/>
    <p:sldId id="259" r:id="rId15"/>
  </p:sldIdLst>
  <p:sldSz cx="12192000" cy="6858000"/>
  <p:notesSz cx="6858000" cy="9144000"/>
  <p:embeddedFontLst>
    <p:embeddedFont>
      <p:font typeface="Arial Black" panose="020B0A04020102020204" pitchFamily="34" charset="0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Untitled Section" id="{8B962992-3BA9-4E21-8421-C01873FC0AE7}">
          <p14:sldIdLst>
            <p14:sldId id="256"/>
            <p14:sldId id="261"/>
            <p14:sldId id="262"/>
            <p14:sldId id="260"/>
            <p14:sldId id="275"/>
            <p14:sldId id="276"/>
            <p14:sldId id="277"/>
            <p14:sldId id="263"/>
            <p14:sldId id="278"/>
            <p14:sldId id="264"/>
            <p14:sldId id="279"/>
            <p14:sldId id="271"/>
            <p14:sldId id="267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F8205B-FEFB-4535-BABA-32F1DA3F9058}" v="13" dt="2026-03-11T12:12:22.8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447" autoAdjust="0"/>
  </p:normalViewPr>
  <p:slideViewPr>
    <p:cSldViewPr snapToGrid="0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ambitionbox.com/list-of-companies?campaign=desktop_nav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3048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704766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 dirty="0">
                <a:ln/>
              </a:rPr>
              <a:t>WEB SCRAPING AND EXPLORATORY DATA ANALYSIS ON AMBITIONBOX LISTINGS</a:t>
            </a:r>
          </a:p>
          <a:p>
            <a:pPr algn="ctr"/>
            <a:endParaRPr lang="en-US" altLang="en-GB" sz="2400" b="1" dirty="0">
              <a:solidFill>
                <a:schemeClr val="tx1"/>
              </a:solidFill>
              <a:latin typeface="Times New Roman" panose="02020603050405020304" charset="0"/>
              <a:ea typeface="Philosopher" panose="00000500000000000000" charset="0"/>
              <a:cs typeface="Times New Roman" panose="02020603050405020304" charset="0"/>
              <a:sym typeface="Philosopher" panose="00000500000000000000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872F95-0548-E4F6-27F5-7C8B4C8FE3EA}"/>
              </a:ext>
            </a:extLst>
          </p:cNvPr>
          <p:cNvSpPr txBox="1"/>
          <p:nvPr/>
        </p:nvSpPr>
        <p:spPr>
          <a:xfrm>
            <a:off x="503854" y="5328983"/>
            <a:ext cx="343366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u="sng" dirty="0">
                <a:solidFill>
                  <a:srgbClr val="C00000"/>
                </a:solidFill>
                <a:latin typeface="Arial Black" panose="020B0A04020102020204" pitchFamily="34" charset="0"/>
              </a:rPr>
              <a:t>Team</a:t>
            </a:r>
          </a:p>
          <a:p>
            <a:r>
              <a:rPr lang="en-IN" dirty="0"/>
              <a:t>Tejo </a:t>
            </a:r>
            <a:r>
              <a:rPr lang="en-IN" dirty="0" err="1"/>
              <a:t>kalimatha.M</a:t>
            </a:r>
            <a:endParaRPr lang="en-IN" dirty="0"/>
          </a:p>
          <a:p>
            <a:r>
              <a:rPr lang="en-IN" dirty="0"/>
              <a:t>Sangu Jahnavi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F8F38-F65F-6758-A635-800E51E85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C00000"/>
                </a:solidFill>
              </a:rPr>
              <a:t>Problem Statement &amp; Objectives</a:t>
            </a:r>
            <a:endParaRPr lang="en-IN" sz="4800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954484-128F-B484-4B43-9D7C03809C08}"/>
              </a:ext>
            </a:extLst>
          </p:cNvPr>
          <p:cNvSpPr txBox="1"/>
          <p:nvPr/>
        </p:nvSpPr>
        <p:spPr>
          <a:xfrm>
            <a:off x="838200" y="1659285"/>
            <a:ext cx="10657113" cy="3370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average ratings across the companies</a:t>
            </a:r>
            <a:endParaRPr lang="en-US" alt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most companies are rated 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(4+) or average(3-4)</a:t>
            </a:r>
            <a:endParaRPr lang="en-US" alt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uses web scraping from Ambition box to collect real data.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EDA helps find trends and insights for better understanding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collect real-time used companies review data from the</a:t>
            </a:r>
            <a:r>
              <a:rPr lang="en-US" sz="1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Ambition Box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web scraping.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clean and organize the collected data for analysis.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analyze key factors like Name, branches, Ratings, and Reviews using </a:t>
            </a:r>
            <a:r>
              <a:rPr lang="en-US" sz="1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EDA.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571873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4BF8C-9777-A1F6-9103-CE4394998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68315"/>
            <a:ext cx="9144000" cy="341647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694681-1AAE-6DA0-1534-5AE5DAA10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46170"/>
            <a:ext cx="9144000" cy="511629"/>
          </a:xfrm>
        </p:spPr>
        <p:txBody>
          <a:bodyPr>
            <a:normAutofit lnSpcReduction="10000"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C6B2D-1C90-B329-7E11-F7C5145F5BE6}"/>
              </a:ext>
            </a:extLst>
          </p:cNvPr>
          <p:cNvSpPr txBox="1"/>
          <p:nvPr/>
        </p:nvSpPr>
        <p:spPr>
          <a:xfrm>
            <a:off x="774441" y="301195"/>
            <a:ext cx="102705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website used for Web Scraping and obtained the data from –</a:t>
            </a:r>
            <a:r>
              <a:rPr lang="en-US" sz="2800" dirty="0" err="1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AmbitionBox</a:t>
            </a:r>
            <a:endParaRPr lang="en-IN" sz="2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b="1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9E377A-A38E-9D02-858E-F9A4B52FB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4" y="1201047"/>
            <a:ext cx="11105691" cy="482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688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C1B1-29E9-CE13-4F37-B81AE11EB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DE575D-CC4A-688D-E221-BCFC55319A54}"/>
              </a:ext>
            </a:extLst>
          </p:cNvPr>
          <p:cNvSpPr txBox="1"/>
          <p:nvPr/>
        </p:nvSpPr>
        <p:spPr>
          <a:xfrm>
            <a:off x="2371669" y="1297858"/>
            <a:ext cx="156966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Columns</a:t>
            </a:r>
          </a:p>
          <a:p>
            <a:endParaRPr lang="en-IN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9651DF-12AD-0F4D-67B3-E6951211E60E}"/>
              </a:ext>
            </a:extLst>
          </p:cNvPr>
          <p:cNvSpPr txBox="1"/>
          <p:nvPr/>
        </p:nvSpPr>
        <p:spPr>
          <a:xfrm>
            <a:off x="1091381" y="2036522"/>
            <a:ext cx="230074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Clr>
                <a:schemeClr val="accent3">
                  <a:lumMod val="50000"/>
                </a:schemeClr>
              </a:buClr>
              <a:buAutoNum type="arabicPeriod"/>
            </a:pPr>
            <a:r>
              <a:rPr lang="en-I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</a:p>
          <a:p>
            <a:pPr marL="514350" indent="-514350">
              <a:buClr>
                <a:schemeClr val="accent3">
                  <a:lumMod val="50000"/>
                </a:schemeClr>
              </a:buClr>
              <a:buAutoNum type="arabicPeriod"/>
            </a:pPr>
            <a:r>
              <a:rPr lang="en-I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Industry</a:t>
            </a:r>
          </a:p>
          <a:p>
            <a:pPr marL="514350" indent="-514350">
              <a:buClr>
                <a:schemeClr val="accent3">
                  <a:lumMod val="50000"/>
                </a:schemeClr>
              </a:buClr>
              <a:buAutoNum type="arabicPeriod"/>
            </a:pPr>
            <a:r>
              <a:rPr lang="en-I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Branches</a:t>
            </a:r>
          </a:p>
          <a:p>
            <a:pPr marL="514350" indent="-514350">
              <a:buClr>
                <a:schemeClr val="accent3">
                  <a:lumMod val="50000"/>
                </a:schemeClr>
              </a:buClr>
              <a:buAutoNum type="arabicPeriod"/>
            </a:pPr>
            <a:r>
              <a:rPr lang="en-I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</a:t>
            </a:r>
          </a:p>
          <a:p>
            <a:pPr marL="514350" indent="-514350">
              <a:buClr>
                <a:schemeClr val="accent3">
                  <a:lumMod val="50000"/>
                </a:schemeClr>
              </a:buClr>
              <a:buAutoNum type="arabicPeriod"/>
            </a:pPr>
            <a:r>
              <a:rPr lang="en-I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Ratings</a:t>
            </a:r>
          </a:p>
          <a:p>
            <a:pPr marL="514350" indent="-514350">
              <a:buClr>
                <a:schemeClr val="accent3">
                  <a:lumMod val="50000"/>
                </a:schemeClr>
              </a:buClr>
              <a:buAutoNum type="arabicPeriod"/>
            </a:pPr>
            <a:r>
              <a:rPr lang="en-I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Reviews</a:t>
            </a:r>
          </a:p>
          <a:p>
            <a:pPr marL="514350" indent="-514350">
              <a:buClr>
                <a:schemeClr val="accent3">
                  <a:lumMod val="50000"/>
                </a:schemeClr>
              </a:buClr>
              <a:buAutoNum type="arabicPeriod"/>
            </a:pPr>
            <a:r>
              <a:rPr lang="en-I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Salaries</a:t>
            </a:r>
          </a:p>
          <a:p>
            <a:pPr marL="514350" indent="-514350">
              <a:buClr>
                <a:schemeClr val="accent3">
                  <a:lumMod val="50000"/>
                </a:schemeClr>
              </a:buClr>
              <a:buAutoNum type="arabicPeriod"/>
            </a:pPr>
            <a:r>
              <a:rPr lang="en-I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Jobs</a:t>
            </a:r>
          </a:p>
          <a:p>
            <a:pPr marL="514350" indent="-514350">
              <a:buClr>
                <a:schemeClr val="accent3">
                  <a:lumMod val="50000"/>
                </a:schemeClr>
              </a:buClr>
              <a:buAutoNum type="arabicPeriod"/>
            </a:pPr>
            <a:r>
              <a:rPr lang="en-I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Interviews</a:t>
            </a:r>
          </a:p>
          <a:p>
            <a:pPr marL="514350" indent="-514350">
              <a:buClr>
                <a:schemeClr val="accent3">
                  <a:lumMod val="50000"/>
                </a:schemeClr>
              </a:buClr>
              <a:buAutoNum type="arabicPeriod"/>
            </a:pPr>
            <a:r>
              <a:rPr lang="en-I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</a:t>
            </a:r>
          </a:p>
          <a:p>
            <a:pPr marL="514350" indent="-514350">
              <a:buClr>
                <a:schemeClr val="accent3">
                  <a:lumMod val="50000"/>
                </a:schemeClr>
              </a:buClr>
              <a:buAutoNum type="arabicPeriod"/>
            </a:pPr>
            <a:r>
              <a:rPr lang="en-I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Awards</a:t>
            </a:r>
          </a:p>
          <a:p>
            <a:endParaRPr lang="en-IN" sz="2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49A893-17F5-912A-D70F-CA311AFF1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890" y="2167561"/>
            <a:ext cx="6011114" cy="31151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56FEBA6-73E0-CE27-6F2E-A531F85F99F9}"/>
              </a:ext>
            </a:extLst>
          </p:cNvPr>
          <p:cNvSpPr/>
          <p:nvPr/>
        </p:nvSpPr>
        <p:spPr>
          <a:xfrm>
            <a:off x="3031958" y="218952"/>
            <a:ext cx="5014452" cy="68825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tx1"/>
                </a:solidFill>
              </a:rPr>
              <a:t>Features Extraction</a:t>
            </a:r>
          </a:p>
        </p:txBody>
      </p:sp>
    </p:spTree>
    <p:extLst>
      <p:ext uri="{BB962C8B-B14F-4D97-AF65-F5344CB8AC3E}">
        <p14:creationId xmlns:p14="http://schemas.microsoft.com/office/powerpoint/2010/main" val="3427561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82E7725-E8E5-A3A9-149D-BEBC41F1EE74}"/>
              </a:ext>
            </a:extLst>
          </p:cNvPr>
          <p:cNvSpPr/>
          <p:nvPr/>
        </p:nvSpPr>
        <p:spPr>
          <a:xfrm>
            <a:off x="2330245" y="367778"/>
            <a:ext cx="7207045" cy="73741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0C0BC19-B6E7-97D6-A6AD-DDC481DDAB77}"/>
              </a:ext>
            </a:extLst>
          </p:cNvPr>
          <p:cNvSpPr txBox="1">
            <a:spLocks/>
          </p:cNvSpPr>
          <p:nvPr/>
        </p:nvSpPr>
        <p:spPr>
          <a:xfrm>
            <a:off x="757891" y="352098"/>
            <a:ext cx="10351752" cy="737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scraping our final dataset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D73214-FF57-570D-4A6C-C37ECE3A9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18" y="1566080"/>
            <a:ext cx="11564964" cy="46107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07204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478546-842F-775A-F3F6-498E866D2BCE}"/>
              </a:ext>
            </a:extLst>
          </p:cNvPr>
          <p:cNvSpPr/>
          <p:nvPr/>
        </p:nvSpPr>
        <p:spPr>
          <a:xfrm>
            <a:off x="3706761" y="526558"/>
            <a:ext cx="4375354" cy="61384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tx1"/>
                </a:solidFill>
              </a:rPr>
              <a:t>Info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0C6B084-C209-4999-13F3-3BF537324565}"/>
              </a:ext>
            </a:extLst>
          </p:cNvPr>
          <p:cNvSpPr txBox="1">
            <a:spLocks/>
          </p:cNvSpPr>
          <p:nvPr/>
        </p:nvSpPr>
        <p:spPr>
          <a:xfrm>
            <a:off x="718562" y="526558"/>
            <a:ext cx="10351752" cy="655034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IN" sz="3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83222A2-0C7C-9363-9CBC-44FBB3E0F3BC}"/>
              </a:ext>
            </a:extLst>
          </p:cNvPr>
          <p:cNvSpPr/>
          <p:nvPr/>
        </p:nvSpPr>
        <p:spPr>
          <a:xfrm>
            <a:off x="5092737" y="3305458"/>
            <a:ext cx="2212258" cy="106188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DFA8CA-3C39-50C0-D173-EDABA593E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3397"/>
            <a:ext cx="4887007" cy="47060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330FE8-5383-CDDE-4CE0-93ACCB5EE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534" y="1483397"/>
            <a:ext cx="4324954" cy="47060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52445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BF1C9D1-C0F3-9066-00DF-8480E7DA6C41}"/>
              </a:ext>
            </a:extLst>
          </p:cNvPr>
          <p:cNvSpPr/>
          <p:nvPr/>
        </p:nvSpPr>
        <p:spPr>
          <a:xfrm>
            <a:off x="4026310" y="235974"/>
            <a:ext cx="4375354" cy="61384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</a:rPr>
              <a:t>Data Cleaning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D11F545-9601-5A63-6C64-5BA72CA99163}"/>
              </a:ext>
            </a:extLst>
          </p:cNvPr>
          <p:cNvSpPr txBox="1">
            <a:spLocks/>
          </p:cNvSpPr>
          <p:nvPr/>
        </p:nvSpPr>
        <p:spPr>
          <a:xfrm>
            <a:off x="1038111" y="235974"/>
            <a:ext cx="10351752" cy="567813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IN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FEE5C6-36E3-C72C-D630-4388D426D9A8}"/>
              </a:ext>
            </a:extLst>
          </p:cNvPr>
          <p:cNvSpPr txBox="1"/>
          <p:nvPr/>
        </p:nvSpPr>
        <p:spPr>
          <a:xfrm>
            <a:off x="1038111" y="1361450"/>
            <a:ext cx="94774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cleaning process remove the unwanted columns and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879B17-414D-DA2B-0AD1-78BA320F7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53" y="2377378"/>
            <a:ext cx="11774905" cy="31191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54296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3445A88E-BF9F-AF1D-D6E8-DE001B80E6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1FD72A2-EA3A-C7CB-34D9-2188BF0EB126}"/>
              </a:ext>
            </a:extLst>
          </p:cNvPr>
          <p:cNvSpPr/>
          <p:nvPr/>
        </p:nvSpPr>
        <p:spPr>
          <a:xfrm>
            <a:off x="3832003" y="169090"/>
            <a:ext cx="4375354" cy="61384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Univariate Analysis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2E833FC-4DA6-C7B7-7FCE-24ECD563B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74" y="995070"/>
            <a:ext cx="5751872" cy="42677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1F19B68-6A6A-36E9-A9C2-F862BC0DF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893" y="995069"/>
            <a:ext cx="5751871" cy="426779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6988561-5672-FE75-CE6B-2D0E26FBF590}"/>
              </a:ext>
            </a:extLst>
          </p:cNvPr>
          <p:cNvSpPr txBox="1"/>
          <p:nvPr/>
        </p:nvSpPr>
        <p:spPr>
          <a:xfrm>
            <a:off x="136873" y="5475004"/>
            <a:ext cx="57518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Here the distribution regrading the total number of industries per sector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Here most of the companies are in IT Services and consulting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C04631-E1BC-77F1-BF02-72B26701DE91}"/>
              </a:ext>
            </a:extLst>
          </p:cNvPr>
          <p:cNvSpPr txBox="1"/>
          <p:nvPr/>
        </p:nvSpPr>
        <p:spPr>
          <a:xfrm>
            <a:off x="6055893" y="5465426"/>
            <a:ext cx="57518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Here we can see the review distribution over the companies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of the reviews between 0 to 24000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distribution is positive skewed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9978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FDC0E5-3B6F-2A89-69B1-18CC767E9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967" y="235975"/>
            <a:ext cx="6134956" cy="42770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0E2C3B-EE71-9AFC-86FB-E6FF6133EFC7}"/>
              </a:ext>
            </a:extLst>
          </p:cNvPr>
          <p:cNvSpPr txBox="1"/>
          <p:nvPr/>
        </p:nvSpPr>
        <p:spPr>
          <a:xfrm>
            <a:off x="5815967" y="4778478"/>
            <a:ext cx="61349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median rating is around 3.9</a:t>
            </a:r>
            <a:r>
              <a:rPr lang="en-US" dirty="0"/>
              <a:t>, indicating that most ratings are close to 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interquartile range (IQR)</a:t>
            </a:r>
            <a:r>
              <a:rPr lang="en-US" dirty="0"/>
              <a:t> lies approximately between </a:t>
            </a:r>
            <a:r>
              <a:rPr lang="en-US" b="1" dirty="0"/>
              <a:t>3.6 and 4.0</a:t>
            </a:r>
            <a:r>
              <a:rPr lang="en-US" dirty="0"/>
              <a:t>, showing that the majority of ratings fall within this range.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minimum rating is about 3.0</a:t>
            </a:r>
            <a:r>
              <a:rPr lang="en-US" dirty="0"/>
              <a:t>, while the </a:t>
            </a:r>
            <a:r>
              <a:rPr lang="en-US" b="1" dirty="0"/>
              <a:t>maximum rating reaches around 4.6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DABDFF-51B6-DFD1-3EC0-34CD9D483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36" y="235975"/>
            <a:ext cx="5700531" cy="42770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DD54D6-5A73-51D0-238E-4018D418B2FC}"/>
              </a:ext>
            </a:extLst>
          </p:cNvPr>
          <p:cNvSpPr txBox="1"/>
          <p:nvPr/>
        </p:nvSpPr>
        <p:spPr>
          <a:xfrm>
            <a:off x="115436" y="4778478"/>
            <a:ext cx="57005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distribution is </a:t>
            </a:r>
            <a:r>
              <a:rPr lang="en-US" b="1" dirty="0"/>
              <a:t>positively skewed (right-skewed)</a:t>
            </a:r>
            <a:r>
              <a:rPr lang="en-US" dirty="0"/>
              <a:t>, meaning a few ratings extend toward much higher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a </a:t>
            </a:r>
            <a:r>
              <a:rPr lang="en-US" b="1" dirty="0"/>
              <a:t>small number of observations appear at the higher end</a:t>
            </a:r>
            <a:r>
              <a:rPr lang="en-US" dirty="0"/>
              <a:t>, which creates a long tail on the right side of the graph.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6632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47D7EEB-67E8-80B9-6592-13F34156F6BC}"/>
              </a:ext>
            </a:extLst>
          </p:cNvPr>
          <p:cNvSpPr/>
          <p:nvPr/>
        </p:nvSpPr>
        <p:spPr>
          <a:xfrm>
            <a:off x="3912215" y="23371"/>
            <a:ext cx="4330828" cy="61384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Bivariate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841120-9D68-95AF-E225-CFF58BDEB1E9}"/>
              </a:ext>
            </a:extLst>
          </p:cNvPr>
          <p:cNvSpPr txBox="1"/>
          <p:nvPr/>
        </p:nvSpPr>
        <p:spPr>
          <a:xfrm>
            <a:off x="242884" y="4919008"/>
            <a:ext cx="69232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Jio</a:t>
            </a:r>
            <a:r>
              <a:rPr lang="en-US" sz="1600" dirty="0"/>
              <a:t> has the highest number of branches with </a:t>
            </a:r>
            <a:r>
              <a:rPr lang="en-US" sz="1600" b="1" dirty="0"/>
              <a:t>around 2000 branches</a:t>
            </a:r>
            <a:r>
              <a:rPr lang="en-US" sz="1600" dirty="0"/>
              <a:t>, making it the top company in the list.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HDFC Bank</a:t>
            </a:r>
            <a:r>
              <a:rPr lang="en-US" sz="1600" dirty="0"/>
              <a:t> and </a:t>
            </a:r>
            <a:r>
              <a:rPr lang="en-US" sz="1600" b="1" dirty="0"/>
              <a:t>Axis Bank</a:t>
            </a:r>
            <a:r>
              <a:rPr lang="en-US" sz="1600" dirty="0"/>
              <a:t> follow with approximately </a:t>
            </a:r>
            <a:r>
              <a:rPr lang="en-US" sz="1600" b="1" dirty="0"/>
              <a:t>1850 and 1500 branches</a:t>
            </a:r>
            <a:r>
              <a:rPr lang="en-US" sz="1600" dirty="0"/>
              <a:t> respectively.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ICICI Bank</a:t>
            </a:r>
            <a:r>
              <a:rPr lang="en-US" sz="1600" dirty="0"/>
              <a:t> also has a large network with </a:t>
            </a:r>
            <a:r>
              <a:rPr lang="en-US" sz="1600" b="1" dirty="0"/>
              <a:t>about 1450 branches</a:t>
            </a:r>
            <a:r>
              <a:rPr lang="en-US" sz="1600" dirty="0"/>
              <a:t>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C84BC6-A8B1-189B-D796-B876744CDFD3}"/>
              </a:ext>
            </a:extLst>
          </p:cNvPr>
          <p:cNvSpPr txBox="1"/>
          <p:nvPr/>
        </p:nvSpPr>
        <p:spPr>
          <a:xfrm>
            <a:off x="7237320" y="4919008"/>
            <a:ext cx="46422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Accenture</a:t>
            </a:r>
            <a:r>
              <a:rPr lang="en-US" sz="1600" dirty="0"/>
              <a:t> has the largest  jobs reviews with </a:t>
            </a:r>
            <a:r>
              <a:rPr lang="en-US" sz="1600" b="1" dirty="0"/>
              <a:t>61.9%</a:t>
            </a:r>
            <a:r>
              <a:rPr lang="en-US" sz="1600" dirty="0"/>
              <a:t>, making it the leading company in the chart.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Bajaj Finance</a:t>
            </a:r>
            <a:r>
              <a:rPr lang="en-US" sz="1600" dirty="0"/>
              <a:t> is the second highest with </a:t>
            </a:r>
            <a:r>
              <a:rPr lang="en-US" sz="1600" b="1" dirty="0"/>
              <a:t>13.1%</a:t>
            </a:r>
            <a:r>
              <a:rPr lang="en-US" sz="1600" dirty="0"/>
              <a:t> of the total job reviews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4322D6-1894-BD4D-1875-62DB3F9ED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5" y="708369"/>
            <a:ext cx="6510842" cy="41394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EA9F12-6A3E-5962-13F1-B9AF36218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320" y="708369"/>
            <a:ext cx="5026680" cy="41394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62658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DA0BE8-F146-537C-A7A2-8E8B87D78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1" y="269096"/>
            <a:ext cx="4711348" cy="43996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FDB1E8-1ADE-6051-8AF6-E8BD49E17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740" y="349306"/>
            <a:ext cx="7166260" cy="43996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BE00FA-C272-CF7E-84EC-8CC72E4F35E3}"/>
              </a:ext>
            </a:extLst>
          </p:cNvPr>
          <p:cNvSpPr txBox="1"/>
          <p:nvPr/>
        </p:nvSpPr>
        <p:spPr>
          <a:xfrm>
            <a:off x="271825" y="4748981"/>
            <a:ext cx="45277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company ratings distribution with a hue of awards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Here ,The graph shows which </a:t>
            </a:r>
            <a:r>
              <a:rPr lang="en-US" dirty="0" err="1"/>
              <a:t>companys</a:t>
            </a:r>
            <a:r>
              <a:rPr lang="en-US" dirty="0"/>
              <a:t> having highest ratings on </a:t>
            </a:r>
            <a:r>
              <a:rPr lang="en-US" dirty="0" err="1"/>
              <a:t>receving</a:t>
            </a:r>
            <a:r>
              <a:rPr lang="en-US" dirty="0"/>
              <a:t> awards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84ECC8-0341-EC6F-C99E-3E17B1C8CA89}"/>
              </a:ext>
            </a:extLst>
          </p:cNvPr>
          <p:cNvSpPr txBox="1"/>
          <p:nvPr/>
        </p:nvSpPr>
        <p:spPr>
          <a:xfrm>
            <a:off x="5170796" y="4887480"/>
            <a:ext cx="64610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Graph indicated distribution ratings over the industries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of the industries got ratings between 3.5 to 4.0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Few of industries are low rated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7763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897BF1-BF1A-DC95-3572-5C3B4380B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93" y="141032"/>
            <a:ext cx="5296639" cy="404869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1FC56E-2738-EEB3-CF6F-ED5378CF5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470" y="141032"/>
            <a:ext cx="5006001" cy="404869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009F55-A439-0146-FD2E-7F19596354DD}"/>
              </a:ext>
            </a:extLst>
          </p:cNvPr>
          <p:cNvSpPr txBox="1"/>
          <p:nvPr/>
        </p:nvSpPr>
        <p:spPr>
          <a:xfrm>
            <a:off x="262040" y="4395019"/>
            <a:ext cx="50060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Strong Positive Correlation:</a:t>
            </a:r>
            <a:r>
              <a:rPr lang="en-US" dirty="0"/>
              <a:t>Variables like </a:t>
            </a:r>
            <a:r>
              <a:rPr lang="en-US" b="1" dirty="0"/>
              <a:t>Reviews, Salaries, Benefits, and Interviews</a:t>
            </a:r>
            <a:r>
              <a:rPr lang="en-US" dirty="0"/>
              <a:t> show very strong positive correlations (around </a:t>
            </a:r>
            <a:r>
              <a:rPr lang="en-US" b="1" dirty="0"/>
              <a:t>0.92–0.96</a:t>
            </a:r>
            <a:r>
              <a:rPr lang="en-US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Moderate Relationship with Jobs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Ratings Have Weak/Negative Correlation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Branches Show Weak Relationship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6BAD97-2657-0DD8-A685-82D03BD43FE2}"/>
              </a:ext>
            </a:extLst>
          </p:cNvPr>
          <p:cNvSpPr txBox="1"/>
          <p:nvPr/>
        </p:nvSpPr>
        <p:spPr>
          <a:xfrm>
            <a:off x="6544150" y="4395019"/>
            <a:ext cx="52966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Salaries category has the highest number of reviews</a:t>
            </a:r>
            <a:r>
              <a:rPr lang="en-US" dirty="0"/>
              <a:t>, far exceeding all other review types.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Jobs, Benefits, and Interviews</a:t>
            </a:r>
            <a:r>
              <a:rPr lang="en-US" dirty="0"/>
              <a:t> have significantly </a:t>
            </a:r>
            <a:r>
              <a:rPr lang="en-US" b="1" dirty="0"/>
              <a:t>fewer reviews compared to Salaries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high number of </a:t>
            </a:r>
            <a:r>
              <a:rPr lang="en-US" b="1" dirty="0"/>
              <a:t>salary reviews indicates that users are highly interested in salary transparency and compensation details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5624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F2B0D8-8CB2-9E68-B16C-BB23B5AEA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05" y="493008"/>
            <a:ext cx="5449060" cy="42201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49219E-8D44-4BB0-F065-12CD21130600}"/>
              </a:ext>
            </a:extLst>
          </p:cNvPr>
          <p:cNvSpPr txBox="1"/>
          <p:nvPr/>
        </p:nvSpPr>
        <p:spPr>
          <a:xfrm>
            <a:off x="7206267" y="1038440"/>
            <a:ext cx="442451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Low</a:t>
            </a:r>
            <a:r>
              <a:rPr lang="en-US" dirty="0"/>
              <a:t> </a:t>
            </a:r>
            <a:r>
              <a:rPr lang="en-US" b="1" dirty="0"/>
              <a:t>Review</a:t>
            </a:r>
            <a:r>
              <a:rPr lang="en-US" dirty="0"/>
              <a:t>: Most companies fall in this category, showing lower review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Mid</a:t>
            </a:r>
            <a:r>
              <a:rPr lang="en-US" dirty="0"/>
              <a:t> </a:t>
            </a:r>
            <a:r>
              <a:rPr lang="en-US" b="1" dirty="0"/>
              <a:t>Review</a:t>
            </a:r>
            <a:r>
              <a:rPr lang="en-US" dirty="0"/>
              <a:t>: A small number of companies have average or moderate reviews.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High</a:t>
            </a:r>
            <a:r>
              <a:rPr lang="en-US" dirty="0"/>
              <a:t> </a:t>
            </a:r>
            <a:r>
              <a:rPr lang="en-US" b="1" dirty="0"/>
              <a:t>Review</a:t>
            </a:r>
            <a:r>
              <a:rPr lang="en-US" dirty="0"/>
              <a:t>: Very few companies have high ratings, indicating excellent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Overall</a:t>
            </a:r>
            <a:r>
              <a:rPr lang="en-US" dirty="0"/>
              <a:t> </a:t>
            </a:r>
            <a:r>
              <a:rPr lang="en-US" b="1" dirty="0"/>
              <a:t>Insight</a:t>
            </a:r>
            <a:r>
              <a:rPr lang="en-US" dirty="0"/>
              <a:t>: The distribution shows that high-rated companies are very limited compared to low-rated ones.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3920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3178" y="3113882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EB7140-1537-084C-3DEC-BD0481CECCEF}"/>
              </a:ext>
            </a:extLst>
          </p:cNvPr>
          <p:cNvSpPr txBox="1"/>
          <p:nvPr/>
        </p:nvSpPr>
        <p:spPr>
          <a:xfrm>
            <a:off x="3198067" y="1031099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b="1" dirty="0">
                <a:solidFill>
                  <a:srgbClr val="C00000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569</Words>
  <Application>Microsoft Office PowerPoint</Application>
  <PresentationFormat>Widescreen</PresentationFormat>
  <Paragraphs>66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 Black</vt:lpstr>
      <vt:lpstr>Wingdings</vt:lpstr>
      <vt:lpstr>Times New Roman</vt:lpstr>
      <vt:lpstr>Arial</vt:lpstr>
      <vt:lpstr>Calibri</vt:lpstr>
      <vt:lpstr>Office Theme</vt:lpstr>
      <vt:lpstr>PowerPoint Presentation</vt:lpstr>
      <vt:lpstr>Problem Statement &amp; Objectives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Sangu Jahnavi</cp:lastModifiedBy>
  <cp:revision>8</cp:revision>
  <dcterms:created xsi:type="dcterms:W3CDTF">2021-02-16T05:19:01Z</dcterms:created>
  <dcterms:modified xsi:type="dcterms:W3CDTF">2026-03-13T14:34:47Z</dcterms:modified>
</cp:coreProperties>
</file>